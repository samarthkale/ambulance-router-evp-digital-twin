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the 71% figure and exact wording against the FHWA report (fhwahop24019)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9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A3B4C0"/>
          </a:solidFill>
          <a:ln w="12700">
            <a:solidFill>
              <a:srgbClr val="A3B4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SPARK-A-THON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103120" y="297180"/>
            <a:ext cx="484632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TEES MAAR KHAN</a:t>
            </a:r>
            <a:endParaRPr lang="en-US" sz="85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4572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250" kern="0" dirty="0">
                <a:solidFill>
                  <a:srgbClr val="282828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DIFFERENTIATOR </a:t>
            </a:r>
            <a:pPr indent="0" marL="0">
              <a:buNone/>
            </a:pPr>
            <a:r>
              <a:rPr lang="en-US" sz="2600" spc="-250" kern="0" dirty="0">
                <a:solidFill>
                  <a:srgbClr val="282828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: </a:t>
            </a:r>
            <a:pPr indent="0" marL="0">
              <a:buNone/>
            </a:pPr>
            <a:r>
              <a:rPr lang="en-US" sz="1800" b="1" spc="50" kern="0" dirty="0">
                <a:solidFill>
                  <a:srgbClr val="0B57C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 give a safe green light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JUST GIVE A GREEN LIGHT.   3 HARD RULES, </a:t>
            </a:r>
            <a:pPr indent="0" marL="0">
              <a:buNone/>
            </a:pPr>
            <a:r>
              <a:rPr lang="en-US" sz="1000" b="1" spc="150" kern="0" dirty="0">
                <a:solidFill>
                  <a:srgbClr val="D91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EXCEPTIONS</a:t>
            </a:r>
            <a:endParaRPr lang="en-US" sz="1000" dirty="0"/>
          </a:p>
        </p:txBody>
      </p:sp>
      <p:sp>
        <p:nvSpPr>
          <p:cNvPr id="8" name="Rule card R1"/>
          <p:cNvSpPr/>
          <p:nvPr/>
        </p:nvSpPr>
        <p:spPr>
          <a:xfrm>
            <a:off x="548640" y="1417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4F3F0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9" name="Rule R1 icon"/>
          <p:cNvSpPr/>
          <p:nvPr/>
        </p:nvSpPr>
        <p:spPr>
          <a:xfrm>
            <a:off x="1531620" y="1490472"/>
            <a:ext cx="594360" cy="594360"/>
          </a:xfrm>
          <a:prstGeom prst="ellipse">
            <a:avLst/>
          </a:prstGeom>
          <a:solidFill>
            <a:srgbClr val="DFE4EA"/>
          </a:solidFill>
          <a:ln w="15875">
            <a:solidFill>
              <a:srgbClr val="0B57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1620" y="1490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1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conflicts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conflicting greens.</a:t>
            </a:r>
            <a:endParaRPr lang="en-US" sz="1100" dirty="0"/>
          </a:p>
        </p:txBody>
      </p:sp>
      <p:sp>
        <p:nvSpPr>
          <p:cNvPr id="13" name="Rule card R2"/>
          <p:cNvSpPr/>
          <p:nvPr/>
        </p:nvSpPr>
        <p:spPr>
          <a:xfrm>
            <a:off x="3291840" y="1417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4F3F0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14" name="Rule R2 icon"/>
          <p:cNvSpPr/>
          <p:nvPr/>
        </p:nvSpPr>
        <p:spPr>
          <a:xfrm>
            <a:off x="4274820" y="1490472"/>
            <a:ext cx="594360" cy="594360"/>
          </a:xfrm>
          <a:prstGeom prst="ellipse">
            <a:avLst/>
          </a:prstGeom>
          <a:solidFill>
            <a:srgbClr val="DFE4EA"/>
          </a:solidFill>
          <a:ln w="15875">
            <a:solidFill>
              <a:srgbClr val="0B57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4820" y="1490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1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→ Yellow → Red with minimum clearance.</a:t>
            </a:r>
            <a:endParaRPr lang="en-US" sz="1100" dirty="0"/>
          </a:p>
        </p:txBody>
      </p:sp>
      <p:sp>
        <p:nvSpPr>
          <p:cNvPr id="18" name="Rule card R3"/>
          <p:cNvSpPr/>
          <p:nvPr/>
        </p:nvSpPr>
        <p:spPr>
          <a:xfrm>
            <a:off x="6035040" y="1417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4F3F0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19" name="Rule R3 icon"/>
          <p:cNvSpPr/>
          <p:nvPr/>
        </p:nvSpPr>
        <p:spPr>
          <a:xfrm>
            <a:off x="7018020" y="1490472"/>
            <a:ext cx="594360" cy="594360"/>
          </a:xfrm>
          <a:prstGeom prst="ellipse">
            <a:avLst/>
          </a:prstGeom>
          <a:solidFill>
            <a:srgbClr val="0B57CF"/>
          </a:solidFill>
          <a:ln w="15875">
            <a:solidFill>
              <a:srgbClr val="0B57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18020" y="1490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last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only after conflicting movements have been red for the required clearance.</a:t>
            </a:r>
            <a:endParaRPr lang="en-US" sz="1100" dirty="0"/>
          </a:p>
        </p:txBody>
      </p:sp>
      <p:sp>
        <p:nvSpPr>
          <p:cNvPr id="23" name="Fail-safe panel"/>
          <p:cNvSpPr/>
          <p:nvPr/>
        </p:nvSpPr>
        <p:spPr>
          <a:xfrm>
            <a:off x="548640" y="320040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A3B4C0"/>
          </a:solidFill>
          <a:ln w="12700">
            <a:solidFill>
              <a:srgbClr val="A3B4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Fail-safe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3584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engine fails → junction recovers → normal signal program resumes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364992"/>
            <a:ext cx="0" cy="475488"/>
          </a:xfrm>
          <a:prstGeom prst="line">
            <a:avLst/>
          </a:prstGeom>
          <a:noFill/>
          <a:ln w="15875">
            <a:solidFill>
              <a:srgbClr val="F4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3264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monitor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1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signal violations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0" y="3611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1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collisions</a:t>
            </a:r>
            <a:endParaRPr lang="en-US" sz="1050" dirty="0"/>
          </a:p>
        </p:txBody>
      </p:sp>
      <p:sp>
        <p:nvSpPr>
          <p:cNvPr id="32" name="Proof band"/>
          <p:cNvSpPr/>
          <p:nvPr/>
        </p:nvSpPr>
        <p:spPr>
          <a:xfrm>
            <a:off x="548640" y="41148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DFE4EA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1148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9142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71%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1965960" y="41148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emergency vehicle crashes after preemption in St. Paul, MN. Priority done right improves safety.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FHWA report (fhwahop24019)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6817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57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 not an output. </a:t>
            </a:r>
            <a:pPr indent="0" marL="0">
              <a:buNone/>
            </a:pPr>
            <a:r>
              <a:rPr lang="en-US" sz="2000" dirty="0">
                <a:solidFill>
                  <a:srgbClr val="D91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 a constraint.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48640" y="5084064"/>
            <a:ext cx="804672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2026-10-05T20:48:20Z</dcterms:created>
  <dcterms:modified xsi:type="dcterms:W3CDTF">2026-10-05T20:48:20Z</dcterms:modified>
</cp:coreProperties>
</file>